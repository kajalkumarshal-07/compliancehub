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5F74-ADF9-0590-5923-A0326D607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570A5-EA60-664D-72A7-EEA2FF4C2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C6B66-0251-5666-9650-363A0A4D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3DCE8-7E1E-A2E2-448D-2F358EDE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B1799-85E2-7E22-0AC5-8C982A44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9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2FF3-2145-3416-369B-505CB06D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B09BD-EC92-F275-EC4C-0FD4D662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C34C4-99D0-3EBF-97BF-ABC32674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943B2-23B3-8FEF-9C93-D8B4CA33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43BD-67C4-0BD0-796B-2D2A9982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2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4E03-4921-D46F-E287-D352FC293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53539-D93F-F1FD-9216-C93D88F12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6758-5327-DE69-E9B9-8354F675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DEFAC-0BB7-DB5E-AC9C-BB72C18C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8E84-096B-3C65-B3F8-8FB9F860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5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17FE-C836-F1E0-8A4A-84225644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53ED8-E66B-4319-A687-7BA3C5B0C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49EE3-C155-F4CD-CCAD-0D99872D1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DD3AD-1EB2-9610-A36E-0762B2F0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8F29A-6AE7-41DD-5605-122AAE1E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B77C-76C4-D846-D420-C35CFBA5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6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7F523-9F02-3C08-4C3A-41A3903F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A7DE0-4EDF-88F7-9957-DEA758F9B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FD0CF-2087-83B6-8BB0-182B38434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14062-B1F4-13DA-7A34-3A34A8D4C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343BA-91B3-243C-E28E-77979FFCF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49713-0460-D99F-B01E-B73B9FE8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EB824-E156-4E0C-4437-420951DE9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1D1E7C-B505-8BCB-B280-EBA97B54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06B6-1950-C900-CF9B-FFF09C12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5F124-522D-E4B3-9A72-B1C7D667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CAC51-005E-2B16-0F43-0DEBD4BE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4F929-23DC-A563-803C-2745976A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3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5092F-8F78-F2B1-1443-5FCE4E44C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0D98CC-AD40-F8C0-3762-2D3E201F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33BF2-0492-4415-676E-C3121BF4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7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AF0E-B5C9-5E81-0405-4CC8AEF37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6630-4D51-A631-F73F-3DB604FCA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31BF0-1141-DD02-48ED-A70B53720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603D8-52EC-8B19-3352-6CCF5A03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D4FC4-26D7-6841-C8FE-B84E0C5A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1E91B-FF53-7216-038A-53180C50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4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8470-9C34-0A00-3647-CD1DA1C6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0B9E21-DDB0-A8FC-4D9B-7425A428F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DA83E-0A54-B7C1-80F2-2A41B896E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49A6A-831B-2AEA-8E2A-812B4CFD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49F8-84CD-DF03-E53C-7F75E640F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11D19-2348-327D-5D21-C43DB484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2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B4A8-B289-92BE-E63D-0944C6DC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55DBA-C226-E511-CF31-622EC5C95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0294B-99DA-5495-7BF1-4516D2E6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DBC6D-1EAF-241A-F0B8-A7B1C193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B6411-51CA-2A15-11CB-E3BEDFD5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0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92809-B0F9-8950-D83E-365741810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539D-D9A9-DEB9-0B13-BACD0962A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5F402-A123-7D2F-6659-0B056780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49253-62DF-FA43-C1B6-3E69787B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B7AC-8A04-F3DE-BBAF-3D094F27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49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217C-D02C-E0B6-5585-D39ABCB0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8DAF7-D830-D79D-7BFA-E60496826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5F779-5BE7-169E-0DF2-BDC5A5D9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8C3FC-B95E-FA37-349F-A4445AA0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15E58-E87B-9DD7-A0EB-18DD85C1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7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43D61-174C-C79E-B45C-B053267B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9418C-D2D1-8A8E-496A-0448BB95D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3C7B-919E-9DD1-A60A-67E777AE3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C4CE6-ABFA-4930-9F44-529ABBCA7CF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FF5C-12A1-01ED-0842-16B842756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3BF0-E0C5-6057-B3C2-84ADC47A0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9DF7E-BF5F-4921-9367-DC8CB6AA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312622-25E9-BF76-9836-A71260237C1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7F922E-0F77-6618-AE1F-5EE33353C702}"/>
              </a:ext>
            </a:extLst>
          </p:cNvPr>
          <p:cNvSpPr/>
          <p:nvPr/>
        </p:nvSpPr>
        <p:spPr>
          <a:xfrm>
            <a:off x="762000" y="1778000"/>
            <a:ext cx="10668000" cy="2794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970FF-7902-730B-FA87-DB60D31B1FA9}"/>
              </a:ext>
            </a:extLst>
          </p:cNvPr>
          <p:cNvSpPr txBox="1"/>
          <p:nvPr/>
        </p:nvSpPr>
        <p:spPr>
          <a:xfrm>
            <a:off x="0" y="2032000"/>
            <a:ext cx="1219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>
                <a:solidFill>
                  <a:srgbClr val="22D3EE"/>
                </a:solidFill>
                <a:latin typeface="Segoe UI" panose="020B0502040204020203" pitchFamily="34" charset="0"/>
              </a:rPr>
              <a:t>	</a:t>
            </a:r>
            <a:r>
              <a:rPr lang="en-US" sz="4000" b="1" dirty="0" err="1">
                <a:solidFill>
                  <a:srgbClr val="22D3EE"/>
                </a:solidFill>
                <a:latin typeface="Segoe UI" panose="020B0502040204020203" pitchFamily="34" charset="0"/>
              </a:rPr>
              <a:t>ComplianceHub</a:t>
            </a:r>
            <a:endParaRPr lang="en-US" sz="4000" b="1" dirty="0">
              <a:solidFill>
                <a:srgbClr val="22D3EE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1A077-3407-9F6C-B73A-99F8E5DDC752}"/>
              </a:ext>
            </a:extLst>
          </p:cNvPr>
          <p:cNvSpPr txBox="1"/>
          <p:nvPr/>
        </p:nvSpPr>
        <p:spPr>
          <a:xfrm>
            <a:off x="0" y="273050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dirty="0">
                <a:solidFill>
                  <a:srgbClr val="94A3B8"/>
                </a:solidFill>
                <a:latin typeface="Segoe UI" panose="020B0502040204020203" pitchFamily="34" charset="0"/>
              </a:rPr>
              <a:t>	Intune Compliance Dashboard - User Guide</a:t>
            </a:r>
            <a:endParaRPr lang="en-US" dirty="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DBAF7-FD4A-A2C3-2766-A49EE0D8DF10}"/>
              </a:ext>
            </a:extLst>
          </p:cNvPr>
          <p:cNvSpPr txBox="1"/>
          <p:nvPr/>
        </p:nvSpPr>
        <p:spPr>
          <a:xfrm>
            <a:off x="0" y="3556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3B82F6"/>
                </a:solidFill>
                <a:latin typeface="Segoe UI" panose="020B0502040204020203" pitchFamily="34" charset="0"/>
              </a:rPr>
              <a:t>	Made by K </a:t>
            </a:r>
            <a:r>
              <a:rPr lang="en-US" sz="1600" dirty="0" err="1">
                <a:solidFill>
                  <a:srgbClr val="3B82F6"/>
                </a:solidFill>
                <a:latin typeface="Segoe UI" panose="020B0502040204020203" pitchFamily="34" charset="0"/>
              </a:rPr>
              <a:t>K</a:t>
            </a:r>
            <a:r>
              <a:rPr lang="en-US" sz="1600" dirty="0">
                <a:solidFill>
                  <a:srgbClr val="3B82F6"/>
                </a:solidFill>
                <a:latin typeface="Segoe UI" panose="020B0502040204020203" pitchFamily="34" charset="0"/>
              </a:rPr>
              <a:t> Shal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94EBD-EDD4-C4EF-61EA-97E78E3D5B6C}"/>
              </a:ext>
            </a:extLst>
          </p:cNvPr>
          <p:cNvSpPr txBox="1"/>
          <p:nvPr/>
        </p:nvSpPr>
        <p:spPr>
          <a:xfrm>
            <a:off x="0" y="400050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</a:rPr>
              <a:t>	PowerShell + Static HTML  -  No Server Required</a:t>
            </a:r>
          </a:p>
        </p:txBody>
      </p:sp>
    </p:spTree>
    <p:extLst>
      <p:ext uri="{BB962C8B-B14F-4D97-AF65-F5344CB8AC3E}">
        <p14:creationId xmlns:p14="http://schemas.microsoft.com/office/powerpoint/2010/main" val="62482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C709E-7BCE-5D3E-1090-64D60AE8446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A7272-2203-6D74-E61B-5ABE6725527E}"/>
              </a:ext>
            </a:extLst>
          </p:cNvPr>
          <p:cNvSpPr txBox="1"/>
          <p:nvPr/>
        </p:nvSpPr>
        <p:spPr>
          <a:xfrm>
            <a:off x="507999" y="381000"/>
            <a:ext cx="853230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 dirty="0">
                <a:solidFill>
                  <a:srgbClr val="22D3EE"/>
                </a:solidFill>
                <a:latin typeface="Segoe UI" panose="020B0502040204020203" pitchFamily="34" charset="0"/>
              </a:rPr>
              <a:t>	What is </a:t>
            </a:r>
            <a:r>
              <a:rPr lang="en-US" sz="2800" b="1" dirty="0" err="1">
                <a:solidFill>
                  <a:srgbClr val="22D3EE"/>
                </a:solidFill>
                <a:latin typeface="Segoe UI" panose="020B0502040204020203" pitchFamily="34" charset="0"/>
              </a:rPr>
              <a:t>ComplianceHub</a:t>
            </a:r>
            <a:r>
              <a:rPr lang="en-US" sz="2800" b="1" dirty="0">
                <a:solidFill>
                  <a:srgbClr val="22D3EE"/>
                </a:solidFill>
                <a:latin typeface="Segoe UI" panose="020B0502040204020203" pitchFamily="34" charset="0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919E8F-4CDC-5D76-815C-A1F6B4843D1D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2C759-F6BB-5E6F-1CA1-A73F6F7094CE}"/>
              </a:ext>
            </a:extLst>
          </p:cNvPr>
          <p:cNvSpPr txBox="1"/>
          <p:nvPr/>
        </p:nvSpPr>
        <p:spPr>
          <a:xfrm>
            <a:off x="762000" y="1270000"/>
            <a:ext cx="1066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A lightweight compliance monitoring dashboard for Microsoft Intune.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515C9-BE8E-8427-1E47-B93D14D6AEF9}"/>
              </a:ext>
            </a:extLst>
          </p:cNvPr>
          <p:cNvSpPr txBox="1"/>
          <p:nvPr/>
        </p:nvSpPr>
        <p:spPr>
          <a:xfrm>
            <a:off x="1016000" y="18415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  Real-time device compliance status at a glance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34D57-983F-F74D-55D4-849C08ECA5A7}"/>
              </a:ext>
            </a:extLst>
          </p:cNvPr>
          <p:cNvSpPr txBox="1"/>
          <p:nvPr/>
        </p:nvSpPr>
        <p:spPr>
          <a:xfrm>
            <a:off x="762000" y="1841500"/>
            <a:ext cx="317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22D3EE"/>
                </a:solidFill>
                <a:latin typeface="Segoe UI" panose="020B0502040204020203" pitchFamily="34" charset="0"/>
              </a:rPr>
              <a:t>▪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4D227-FE21-B69E-E6E8-CC45F85CD254}"/>
              </a:ext>
            </a:extLst>
          </p:cNvPr>
          <p:cNvSpPr txBox="1"/>
          <p:nvPr/>
        </p:nvSpPr>
        <p:spPr>
          <a:xfrm>
            <a:off x="1016000" y="23241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  Policy conflict detection &amp; security anomaly alerts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03940-EA33-D2AA-4070-0B043DB2C227}"/>
              </a:ext>
            </a:extLst>
          </p:cNvPr>
          <p:cNvSpPr txBox="1"/>
          <p:nvPr/>
        </p:nvSpPr>
        <p:spPr>
          <a:xfrm>
            <a:off x="762000" y="2324100"/>
            <a:ext cx="317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22D3EE"/>
                </a:solidFill>
                <a:latin typeface="Segoe UI" panose="020B0502040204020203" pitchFamily="34" charset="0"/>
              </a:rPr>
              <a:t>▪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B0927-C05B-BEED-7580-2B2970C58C95}"/>
              </a:ext>
            </a:extLst>
          </p:cNvPr>
          <p:cNvSpPr txBox="1"/>
          <p:nvPr/>
        </p:nvSpPr>
        <p:spPr>
          <a:xfrm>
            <a:off x="1016000" y="28067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  App deployment failure diagnostics &amp; patch audit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8BFD6-4E28-90AF-61CA-445243852E26}"/>
              </a:ext>
            </a:extLst>
          </p:cNvPr>
          <p:cNvSpPr txBox="1"/>
          <p:nvPr/>
        </p:nvSpPr>
        <p:spPr>
          <a:xfrm>
            <a:off x="762000" y="2806700"/>
            <a:ext cx="317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22D3EE"/>
                </a:solidFill>
                <a:latin typeface="Segoe UI" panose="020B0502040204020203" pitchFamily="34" charset="0"/>
              </a:rPr>
              <a:t>▪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47D7D-21D6-6B3F-89BF-5FCE07C2F7CB}"/>
              </a:ext>
            </a:extLst>
          </p:cNvPr>
          <p:cNvSpPr txBox="1"/>
          <p:nvPr/>
        </p:nvSpPr>
        <p:spPr>
          <a:xfrm>
            <a:off x="1016000" y="32893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  Works entirely offline - no server or database needed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06E10-D48E-3EB4-2B85-382D255AE551}"/>
              </a:ext>
            </a:extLst>
          </p:cNvPr>
          <p:cNvSpPr txBox="1"/>
          <p:nvPr/>
        </p:nvSpPr>
        <p:spPr>
          <a:xfrm>
            <a:off x="762000" y="3289300"/>
            <a:ext cx="317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22D3EE"/>
                </a:solidFill>
                <a:latin typeface="Segoe UI" panose="020B0502040204020203" pitchFamily="34" charset="0"/>
              </a:rPr>
              <a:t>▪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A8F8C-0FB5-E776-F2CF-C8E3B148C1AB}"/>
              </a:ext>
            </a:extLst>
          </p:cNvPr>
          <p:cNvSpPr txBox="1"/>
          <p:nvPr/>
        </p:nvSpPr>
        <p:spPr>
          <a:xfrm>
            <a:off x="1016000" y="37719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  Data fetched via PowerShell scripts against Microsoft Graph 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01D1B1-6F75-ED7E-20BA-9E1E8C914CBC}"/>
              </a:ext>
            </a:extLst>
          </p:cNvPr>
          <p:cNvSpPr txBox="1"/>
          <p:nvPr/>
        </p:nvSpPr>
        <p:spPr>
          <a:xfrm>
            <a:off x="762000" y="3771900"/>
            <a:ext cx="317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22D3EE"/>
                </a:solidFill>
                <a:latin typeface="Segoe UI" panose="020B0502040204020203" pitchFamily="34" charset="0"/>
              </a:rPr>
              <a:t>▪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81C68-93F8-8EA6-5DDB-28BA8CB8FAF8}"/>
              </a:ext>
            </a:extLst>
          </p:cNvPr>
          <p:cNvSpPr txBox="1"/>
          <p:nvPr/>
        </p:nvSpPr>
        <p:spPr>
          <a:xfrm>
            <a:off x="762000" y="4699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The dashboard is a single .html file opened in any modern browser. Data is refreshed by re-running the PowerShell collector script.</a:t>
            </a:r>
          </a:p>
        </p:txBody>
      </p:sp>
    </p:spTree>
    <p:extLst>
      <p:ext uri="{BB962C8B-B14F-4D97-AF65-F5344CB8AC3E}">
        <p14:creationId xmlns:p14="http://schemas.microsoft.com/office/powerpoint/2010/main" val="326580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CC437E-E2A2-6DA1-54C4-C8ED2B9803A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BB3C5-C057-9622-4F90-99AC36CE9DC6}"/>
              </a:ext>
            </a:extLst>
          </p:cNvPr>
          <p:cNvSpPr txBox="1"/>
          <p:nvPr/>
        </p:nvSpPr>
        <p:spPr>
          <a:xfrm>
            <a:off x="508000" y="381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2D3EE"/>
                </a:solidFill>
                <a:latin typeface="Segoe UI" panose="020B0502040204020203" pitchFamily="34" charset="0"/>
              </a:rPr>
              <a:t>	The Intune Challenge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84E04-C326-6CDE-DB44-9D943A7C7DA4}"/>
              </a:ext>
            </a:extLst>
          </p:cNvPr>
          <p:cNvSpPr/>
          <p:nvPr/>
        </p:nvSpPr>
        <p:spPr>
          <a:xfrm>
            <a:off x="762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8A786-329E-9E77-C362-1C1B472A27E3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</a:rPr>
              <a:t>  Graph API CORS Block — OAuth2 client credentials flow does not return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F350B-971F-0769-066A-7B69F4BA8C2E}"/>
              </a:ext>
            </a:extLst>
          </p:cNvPr>
          <p:cNvSpPr txBox="1"/>
          <p:nvPr/>
        </p:nvSpPr>
        <p:spPr>
          <a:xfrm>
            <a:off x="762000" y="1574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CORS headers, so browsers cannot query Intune data directly.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4CCF-A2D2-C663-045E-C7E70DA8DE8E}"/>
              </a:ext>
            </a:extLst>
          </p:cNvPr>
          <p:cNvSpPr txBox="1"/>
          <p:nvPr/>
        </p:nvSpPr>
        <p:spPr>
          <a:xfrm>
            <a:off x="762000" y="2032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No Built-in Dashboard — Intune admin center lacks aggregated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10285A-122D-47BD-C3A0-C60F91224255}"/>
              </a:ext>
            </a:extLst>
          </p:cNvPr>
          <p:cNvSpPr txBox="1"/>
          <p:nvPr/>
        </p:nvSpPr>
        <p:spPr>
          <a:xfrm>
            <a:off x="762000" y="2336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compliance views, trend tracking, and policy conflict detection.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DF12D5-4CBE-9ADD-4C7D-7E48657DC472}"/>
              </a:ext>
            </a:extLst>
          </p:cNvPr>
          <p:cNvSpPr txBox="1"/>
          <p:nvPr/>
        </p:nvSpPr>
        <p:spPr>
          <a:xfrm>
            <a:off x="762000" y="2794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Policy Conflicts — Devices get overlapping policies with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2BFAC-79AE-6326-5CC0-E97568200036}"/>
              </a:ext>
            </a:extLst>
          </p:cNvPr>
          <p:cNvSpPr txBox="1"/>
          <p:nvPr/>
        </p:nvSpPr>
        <p:spPr>
          <a:xfrm>
            <a:off x="762000" y="3098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contradictory settings (e.g., firewall on vs. off).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DDD4BA-88C0-4754-2B50-1FDB5E3EC808}"/>
              </a:ext>
            </a:extLst>
          </p:cNvPr>
          <p:cNvSpPr txBox="1"/>
          <p:nvPr/>
        </p:nvSpPr>
        <p:spPr>
          <a:xfrm>
            <a:off x="762000" y="3556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Security Blind Spots — Off-hours bulk wipe/retire actions and stale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C0B08-88CB-8B23-2BAE-FA0C8BFDD47B}"/>
              </a:ext>
            </a:extLst>
          </p:cNvPr>
          <p:cNvSpPr txBox="1"/>
          <p:nvPr/>
        </p:nvSpPr>
        <p:spPr>
          <a:xfrm>
            <a:off x="762000" y="3860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admin roles go undetected without dedicated audit tooling.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BB7A1-60C8-806A-9564-4A70D6F32194}"/>
              </a:ext>
            </a:extLst>
          </p:cNvPr>
          <p:cNvSpPr txBox="1"/>
          <p:nvPr/>
        </p:nvSpPr>
        <p:spPr>
          <a:xfrm>
            <a:off x="762000" y="4318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Stale &amp; Orphaned Devices — Devices not syncing for 90+ days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F7117-B88F-6D12-C686-E09A521017B4}"/>
              </a:ext>
            </a:extLst>
          </p:cNvPr>
          <p:cNvSpPr txBox="1"/>
          <p:nvPr/>
        </p:nvSpPr>
        <p:spPr>
          <a:xfrm>
            <a:off x="762000" y="4622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or showing false-green compliance status are easily missed.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FA544-BFCC-EF75-32D1-EBA8FF8B3E6C}"/>
              </a:ext>
            </a:extLst>
          </p:cNvPr>
          <p:cNvSpPr txBox="1"/>
          <p:nvPr/>
        </p:nvSpPr>
        <p:spPr>
          <a:xfrm>
            <a:off x="762000" y="5080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Disconnected Data — Devices, compliance, apps, and updates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07CD24-E7FE-659F-C2B4-91BBDD336235}"/>
              </a:ext>
            </a:extLst>
          </p:cNvPr>
          <p:cNvSpPr txBox="1"/>
          <p:nvPr/>
        </p:nvSpPr>
        <p:spPr>
          <a:xfrm>
            <a:off x="762000" y="5384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are in separate Graph endpoints with no unified view.</a:t>
            </a:r>
          </a:p>
        </p:txBody>
      </p:sp>
    </p:spTree>
    <p:extLst>
      <p:ext uri="{BB962C8B-B14F-4D97-AF65-F5344CB8AC3E}">
        <p14:creationId xmlns:p14="http://schemas.microsoft.com/office/powerpoint/2010/main" val="124561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B4E457-1CBB-43E1-AB51-88CC16B24CD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BA2FA-C4FA-9311-8E72-53218B4F3649}"/>
              </a:ext>
            </a:extLst>
          </p:cNvPr>
          <p:cNvSpPr txBox="1"/>
          <p:nvPr/>
        </p:nvSpPr>
        <p:spPr>
          <a:xfrm>
            <a:off x="508000" y="381000"/>
            <a:ext cx="5080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How ComplianceHub Solves This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AA138-E468-F090-64AA-A633ED364BBF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E2B47-0477-CBAC-744D-50441E4F97BE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Bypasses CORS — PowerShell fetches data server-side via Graph API,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D2929-5220-4D1F-C29B-C30476046CCE}"/>
              </a:ext>
            </a:extLst>
          </p:cNvPr>
          <p:cNvSpPr txBox="1"/>
          <p:nvPr/>
        </p:nvSpPr>
        <p:spPr>
          <a:xfrm>
            <a:off x="762000" y="1574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saves to JSON. The browser reads a static local file - no CORS needed.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EF712-C025-2904-9DAF-E6463B966A27}"/>
              </a:ext>
            </a:extLst>
          </p:cNvPr>
          <p:cNvSpPr txBox="1"/>
          <p:nvPr/>
        </p:nvSpPr>
        <p:spPr>
          <a:xfrm>
            <a:off x="762000" y="2032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Unified Dashboard — All Intune data (devices, policies, apps, updates,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F5C9B-6E0B-966C-41B3-C070DFABC034}"/>
              </a:ext>
            </a:extLst>
          </p:cNvPr>
          <p:cNvSpPr txBox="1"/>
          <p:nvPr/>
        </p:nvSpPr>
        <p:spPr>
          <a:xfrm>
            <a:off x="762000" y="2336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security) in one place with KPIs, charts, and searchable tables.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D6BAB0-9968-0A0F-C0CE-55A6C9721D15}"/>
              </a:ext>
            </a:extLst>
          </p:cNvPr>
          <p:cNvSpPr txBox="1"/>
          <p:nvPr/>
        </p:nvSpPr>
        <p:spPr>
          <a:xfrm>
            <a:off x="762000" y="2794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Policy Conflict Detection — The Visibility Toolkit scans all active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78603-31EA-EF85-F73B-FAA05616BF27}"/>
              </a:ext>
            </a:extLst>
          </p:cNvPr>
          <p:cNvSpPr txBox="1"/>
          <p:nvPr/>
        </p:nvSpPr>
        <p:spPr>
          <a:xfrm>
            <a:off x="762000" y="3098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policies and flags overlapping/contradictory settings automatically.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DCA0B1-F2F0-1022-1772-80BC68D4A8D4}"/>
              </a:ext>
            </a:extLst>
          </p:cNvPr>
          <p:cNvSpPr txBox="1"/>
          <p:nvPr/>
        </p:nvSpPr>
        <p:spPr>
          <a:xfrm>
            <a:off x="762000" y="3556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Security Audit — Detects off-hours destructive actions, admin role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0AE169-7BC6-34E3-327A-53173B530BC7}"/>
              </a:ext>
            </a:extLst>
          </p:cNvPr>
          <p:cNvSpPr txBox="1"/>
          <p:nvPr/>
        </p:nvSpPr>
        <p:spPr>
          <a:xfrm>
            <a:off x="762000" y="3860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changes, and missing MMA (Microsoft Monitoring Agent) configurations.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E01AFE-4557-AD7C-030B-A79EFB827FD4}"/>
              </a:ext>
            </a:extLst>
          </p:cNvPr>
          <p:cNvSpPr txBox="1"/>
          <p:nvPr/>
        </p:nvSpPr>
        <p:spPr>
          <a:xfrm>
            <a:off x="762000" y="4318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Compliance Reality Check — Flags stale devices (90d+ no sync),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4B0B02-F334-F8EF-3B05-F797581543D1}"/>
              </a:ext>
            </a:extLst>
          </p:cNvPr>
          <p:cNvSpPr txBox="1"/>
          <p:nvPr/>
        </p:nvSpPr>
        <p:spPr>
          <a:xfrm>
            <a:off x="762000" y="4622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orphaned devices, and false-green compliance with detailed drill-down.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759AC-69CF-4B7F-FFEB-5BF62381EE37}"/>
              </a:ext>
            </a:extLst>
          </p:cNvPr>
          <p:cNvSpPr txBox="1"/>
          <p:nvPr/>
        </p:nvSpPr>
        <p:spPr>
          <a:xfrm>
            <a:off x="762000" y="5080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Trend Tracking — Compares current exports against historical snapshots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19CEC-91EC-5D99-FCFE-6DAAE3C3943E}"/>
              </a:ext>
            </a:extLst>
          </p:cNvPr>
          <p:cNvSpPr txBox="1"/>
          <p:nvPr/>
        </p:nvSpPr>
        <p:spPr>
          <a:xfrm>
            <a:off x="762000" y="5384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to show changes over time for health scores and critical findings.</a:t>
            </a:r>
          </a:p>
        </p:txBody>
      </p:sp>
    </p:spTree>
    <p:extLst>
      <p:ext uri="{BB962C8B-B14F-4D97-AF65-F5344CB8AC3E}">
        <p14:creationId xmlns:p14="http://schemas.microsoft.com/office/powerpoint/2010/main" val="358216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FF89A1-863E-9BC2-B5BF-0342E1DFE82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BF48C-A01B-DDDC-019C-A605E4E62B15}"/>
              </a:ext>
            </a:extLst>
          </p:cNvPr>
          <p:cNvSpPr txBox="1"/>
          <p:nvPr/>
        </p:nvSpPr>
        <p:spPr>
          <a:xfrm>
            <a:off x="508000" y="381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Prerequisites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31123-EC84-CFC1-C1EA-296828A700F2}"/>
              </a:ext>
            </a:extLst>
          </p:cNvPr>
          <p:cNvSpPr/>
          <p:nvPr/>
        </p:nvSpPr>
        <p:spPr>
          <a:xfrm>
            <a:off x="508000" y="1079500"/>
            <a:ext cx="5334000" cy="2540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558CE-440A-0640-B749-C0368FE323F4}"/>
              </a:ext>
            </a:extLst>
          </p:cNvPr>
          <p:cNvSpPr txBox="1"/>
          <p:nvPr/>
        </p:nvSpPr>
        <p:spPr>
          <a:xfrm>
            <a:off x="762000" y="12700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3B82F6"/>
                </a:solidFill>
                <a:latin typeface="Segoe UI" panose="020B0502040204020203" pitchFamily="34" charset="0"/>
              </a:rPr>
              <a:t>Azure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06163-ADED-4B9A-0A91-E05C8E5A0DB2}"/>
              </a:ext>
            </a:extLst>
          </p:cNvPr>
          <p:cNvSpPr txBox="1"/>
          <p:nvPr/>
        </p:nvSpPr>
        <p:spPr>
          <a:xfrm>
            <a:off x="1016000" y="17145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Azure AD tenant with Intune licenses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509EE-C0A1-6274-7455-5ED2BEEA5482}"/>
              </a:ext>
            </a:extLst>
          </p:cNvPr>
          <p:cNvSpPr txBox="1"/>
          <p:nvPr/>
        </p:nvSpPr>
        <p:spPr>
          <a:xfrm>
            <a:off x="1016000" y="20701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App registration with client secret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0FF0C-9DD0-9AF4-4A59-713C6C6299D1}"/>
              </a:ext>
            </a:extLst>
          </p:cNvPr>
          <p:cNvSpPr txBox="1"/>
          <p:nvPr/>
        </p:nvSpPr>
        <p:spPr>
          <a:xfrm>
            <a:off x="1016000" y="24257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200">
                <a:solidFill>
                  <a:srgbClr val="94A3B8"/>
                </a:solidFill>
                <a:latin typeface="Segoe UI" panose="020B0502040204020203" pitchFamily="34" charset="0"/>
              </a:rPr>
              <a:t>  API permissions: DeviceManagement.Read.All</a:t>
            </a:r>
            <a:endParaRPr lang="en-US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6278A-46CC-B567-DE18-7A654EA9E8E3}"/>
              </a:ext>
            </a:extLst>
          </p:cNvPr>
          <p:cNvSpPr/>
          <p:nvPr/>
        </p:nvSpPr>
        <p:spPr>
          <a:xfrm>
            <a:off x="6350000" y="1079500"/>
            <a:ext cx="5334000" cy="2540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3C617F-FBFE-B4BD-3358-490B33840026}"/>
              </a:ext>
            </a:extLst>
          </p:cNvPr>
          <p:cNvSpPr txBox="1"/>
          <p:nvPr/>
        </p:nvSpPr>
        <p:spPr>
          <a:xfrm>
            <a:off x="6604000" y="12700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0B981"/>
                </a:solidFill>
                <a:latin typeface="Segoe UI" panose="020B0502040204020203" pitchFamily="34" charset="0"/>
              </a:rPr>
              <a:t>Local Machine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C5B39F-291B-DF44-583B-8E2948A10C56}"/>
              </a:ext>
            </a:extLst>
          </p:cNvPr>
          <p:cNvSpPr txBox="1"/>
          <p:nvPr/>
        </p:nvSpPr>
        <p:spPr>
          <a:xfrm>
            <a:off x="6858000" y="17145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Windows PowerShell 5.1 or later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D719CE-4AFD-647C-6784-A035E7509C01}"/>
              </a:ext>
            </a:extLst>
          </p:cNvPr>
          <p:cNvSpPr txBox="1"/>
          <p:nvPr/>
        </p:nvSpPr>
        <p:spPr>
          <a:xfrm>
            <a:off x="6858000" y="20701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Internet access for Graph API calls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E2D48-8ED8-4858-EDB6-B26131763184}"/>
              </a:ext>
            </a:extLst>
          </p:cNvPr>
          <p:cNvSpPr txBox="1"/>
          <p:nvPr/>
        </p:nvSpPr>
        <p:spPr>
          <a:xfrm>
            <a:off x="6858000" y="24257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Modern browser (Edge, Chrome, Firefox)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B88B4-35E3-D804-39F3-342480F96F17}"/>
              </a:ext>
            </a:extLst>
          </p:cNvPr>
          <p:cNvSpPr txBox="1"/>
          <p:nvPr/>
        </p:nvSpPr>
        <p:spPr>
          <a:xfrm>
            <a:off x="6858000" y="27813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No admin rights required to run dashboard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D6593-2D24-DC3F-9FED-1C07A0BE9AB8}"/>
              </a:ext>
            </a:extLst>
          </p:cNvPr>
          <p:cNvSpPr txBox="1"/>
          <p:nvPr/>
        </p:nvSpPr>
        <p:spPr>
          <a:xfrm>
            <a:off x="508000" y="3937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F59E0B"/>
                </a:solidFill>
                <a:latin typeface="Segoe UI" panose="020B0502040204020203" pitchFamily="34" charset="0"/>
              </a:rPr>
              <a:t>Note: You only need read-only Graph permissions. No write access is required for monitoring.</a:t>
            </a:r>
          </a:p>
        </p:txBody>
      </p:sp>
    </p:spTree>
    <p:extLst>
      <p:ext uri="{BB962C8B-B14F-4D97-AF65-F5344CB8AC3E}">
        <p14:creationId xmlns:p14="http://schemas.microsoft.com/office/powerpoint/2010/main" val="238255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4423F4-2884-2DFF-834D-F2D4FFBB6DB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A608A-37D3-B603-30B5-7B16C72FCF19}"/>
              </a:ext>
            </a:extLst>
          </p:cNvPr>
          <p:cNvSpPr txBox="1"/>
          <p:nvPr/>
        </p:nvSpPr>
        <p:spPr>
          <a:xfrm>
            <a:off x="508000" y="381000"/>
            <a:ext cx="8258928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 dirty="0">
                <a:solidFill>
                  <a:srgbClr val="22D3EE"/>
                </a:solidFill>
                <a:latin typeface="Segoe UI" panose="020B0502040204020203" pitchFamily="34" charset="0"/>
              </a:rPr>
              <a:t>Step 1: Azure AD App Registration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85C183-1804-EAAF-FB34-46C4F38F311A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2F077-4E14-49B9-01A1-2748C5FEF73D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1. Go to Azure Portal &gt; Azure Active Directory &gt; App registrations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AC6A6-B818-478C-CDBD-88403E3FA22B}"/>
              </a:ext>
            </a:extLst>
          </p:cNvPr>
          <p:cNvSpPr txBox="1"/>
          <p:nvPr/>
        </p:nvSpPr>
        <p:spPr>
          <a:xfrm>
            <a:off x="762000" y="16764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2. Click "New registration", give it a name (e.g. IntuneDashboard)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9C25C-0852-D558-6D36-C5F80EF44C21}"/>
              </a:ext>
            </a:extLst>
          </p:cNvPr>
          <p:cNvSpPr txBox="1"/>
          <p:nvPr/>
        </p:nvSpPr>
        <p:spPr>
          <a:xfrm>
            <a:off x="762000" y="2082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3. Set "Accounts in this organizational directory only"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9464EB-5A70-890A-C5D6-FBEDB3DC54FF}"/>
              </a:ext>
            </a:extLst>
          </p:cNvPr>
          <p:cNvSpPr txBox="1"/>
          <p:nvPr/>
        </p:nvSpPr>
        <p:spPr>
          <a:xfrm>
            <a:off x="762000" y="24892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4. No redirect URI needed (we use client_credentials flow)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A9F62-2041-EF64-4660-784BCFA64809}"/>
              </a:ext>
            </a:extLst>
          </p:cNvPr>
          <p:cNvSpPr txBox="1"/>
          <p:nvPr/>
        </p:nvSpPr>
        <p:spPr>
          <a:xfrm>
            <a:off x="762000" y="28956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5. After creation, copy the Application (Client) ID and Tenant 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05F3F2-2C1B-1139-5128-91469525E9D3}"/>
              </a:ext>
            </a:extLst>
          </p:cNvPr>
          <p:cNvSpPr txBox="1"/>
          <p:nvPr/>
        </p:nvSpPr>
        <p:spPr>
          <a:xfrm>
            <a:off x="762000" y="3302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6. Go to Certificates &amp; secrets &gt; New client secret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07949-6A3D-C5DB-C45B-089BCF7EE9B4}"/>
              </a:ext>
            </a:extLst>
          </p:cNvPr>
          <p:cNvSpPr txBox="1"/>
          <p:nvPr/>
        </p:nvSpPr>
        <p:spPr>
          <a:xfrm>
            <a:off x="762000" y="37084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7. Copy the secret value immediately (shown only once)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58686-B2E6-470E-A47B-181EAA51BAAF}"/>
              </a:ext>
            </a:extLst>
          </p:cNvPr>
          <p:cNvSpPr txBox="1"/>
          <p:nvPr/>
        </p:nvSpPr>
        <p:spPr>
          <a:xfrm>
            <a:off x="762000" y="4114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8. Go to API permissions &gt; Add permission &gt; Microsoft Graph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76C839-D764-0715-3351-84914BA9657E}"/>
              </a:ext>
            </a:extLst>
          </p:cNvPr>
          <p:cNvSpPr txBox="1"/>
          <p:nvPr/>
        </p:nvSpPr>
        <p:spPr>
          <a:xfrm>
            <a:off x="762000" y="45212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200">
                <a:solidFill>
                  <a:srgbClr val="94A3B8"/>
                </a:solidFill>
                <a:latin typeface="Segoe UI" panose="020B0502040204020203" pitchFamily="34" charset="0"/>
              </a:rPr>
              <a:t>9. Add Application permission: DeviceManagement.Read.All</a:t>
            </a:r>
            <a:endParaRPr lang="en-US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EEB865-46C2-A10C-9F9B-A6E7B5B9A56A}"/>
              </a:ext>
            </a:extLst>
          </p:cNvPr>
          <p:cNvSpPr txBox="1"/>
          <p:nvPr/>
        </p:nvSpPr>
        <p:spPr>
          <a:xfrm>
            <a:off x="762000" y="49276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10. Click "Grant admin consent" for your organization</a:t>
            </a:r>
          </a:p>
        </p:txBody>
      </p:sp>
    </p:spTree>
    <p:extLst>
      <p:ext uri="{BB962C8B-B14F-4D97-AF65-F5344CB8AC3E}">
        <p14:creationId xmlns:p14="http://schemas.microsoft.com/office/powerpoint/2010/main" val="59514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835909-5FE6-C944-FD38-89EB82EC70A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B6486-4CB9-51AF-8DDD-EC9D9D19C26E}"/>
              </a:ext>
            </a:extLst>
          </p:cNvPr>
          <p:cNvSpPr txBox="1"/>
          <p:nvPr/>
        </p:nvSpPr>
        <p:spPr>
          <a:xfrm>
            <a:off x="508000" y="381000"/>
            <a:ext cx="819294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 dirty="0">
                <a:solidFill>
                  <a:srgbClr val="22D3EE"/>
                </a:solidFill>
                <a:latin typeface="Segoe UI" panose="020B0502040204020203" pitchFamily="34" charset="0"/>
              </a:rPr>
              <a:t>Step 2: Run the Data Collector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24702D-2E31-35EE-BA99-01321E79E962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CC4BD-1C02-00AB-8C19-C90C313FA27A}"/>
              </a:ext>
            </a:extLst>
          </p:cNvPr>
          <p:cNvSpPr txBox="1"/>
          <p:nvPr/>
        </p:nvSpPr>
        <p:spPr>
          <a:xfrm>
            <a:off x="762000" y="1270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Open PowerShell in the script directory and run: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5FB48F-7FD6-BB7F-8C71-6FDA89B7FBDD}"/>
              </a:ext>
            </a:extLst>
          </p:cNvPr>
          <p:cNvSpPr/>
          <p:nvPr/>
        </p:nvSpPr>
        <p:spPr>
          <a:xfrm>
            <a:off x="762000" y="1714500"/>
            <a:ext cx="10668000" cy="635000"/>
          </a:xfrm>
          <a:prstGeom prst="rect">
            <a:avLst/>
          </a:prstGeom>
          <a:solidFill>
            <a:srgbClr val="1A25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0A110-B136-0E9F-37DC-EAEC5A7D465F}"/>
              </a:ext>
            </a:extLst>
          </p:cNvPr>
          <p:cNvSpPr txBox="1"/>
          <p:nvPr/>
        </p:nvSpPr>
        <p:spPr>
          <a:xfrm>
            <a:off x="952500" y="1816100"/>
            <a:ext cx="1028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0B981"/>
                </a:solidFill>
                <a:latin typeface="Segoe UI" panose="020B0502040204020203" pitchFamily="34" charset="0"/>
              </a:rPr>
              <a:t>.\Get-IntuneData.ps1 -TenantId "aaa-bbb" -ClientId "xxx-yyy" -ClientSecret "your-secret"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8EB83-A490-3CF0-33E3-3C177A4270CC}"/>
              </a:ext>
            </a:extLst>
          </p:cNvPr>
          <p:cNvSpPr txBox="1"/>
          <p:nvPr/>
        </p:nvSpPr>
        <p:spPr>
          <a:xfrm>
            <a:off x="762000" y="2667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Replace the values with your Azure AD details: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D731AB-32B2-10FE-81F6-B9C7499A5AAE}"/>
              </a:ext>
            </a:extLst>
          </p:cNvPr>
          <p:cNvSpPr txBox="1"/>
          <p:nvPr/>
        </p:nvSpPr>
        <p:spPr>
          <a:xfrm>
            <a:off x="1016000" y="31115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TenantId     Directory (Tenant) ID from App Registration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EA055-BD3E-C110-8550-C1C38742F753}"/>
              </a:ext>
            </a:extLst>
          </p:cNvPr>
          <p:cNvSpPr txBox="1"/>
          <p:nvPr/>
        </p:nvSpPr>
        <p:spPr>
          <a:xfrm>
            <a:off x="1016000" y="34671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ClientId     Application (Client) ID from App Registration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0E718-C5DC-BFE0-D7E5-72E2F9FB265E}"/>
              </a:ext>
            </a:extLst>
          </p:cNvPr>
          <p:cNvSpPr txBox="1"/>
          <p:nvPr/>
        </p:nvSpPr>
        <p:spPr>
          <a:xfrm>
            <a:off x="1016000" y="38227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ClientSecret Secret value you created in Step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B1F90-2F15-958B-B3D6-3E81D1482D43}"/>
              </a:ext>
            </a:extLst>
          </p:cNvPr>
          <p:cNvSpPr txBox="1"/>
          <p:nvPr/>
        </p:nvSpPr>
        <p:spPr>
          <a:xfrm>
            <a:off x="762000" y="4318000"/>
            <a:ext cx="10668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The script will:
  1. Authenticate to Microsoft Graph
  2. Fetch devices, policies, configs, apps, update rings and more
  3. Write everything to data.json in the same folder
  4. Show a summary of what was collected</a:t>
            </a:r>
          </a:p>
        </p:txBody>
      </p:sp>
    </p:spTree>
    <p:extLst>
      <p:ext uri="{BB962C8B-B14F-4D97-AF65-F5344CB8AC3E}">
        <p14:creationId xmlns:p14="http://schemas.microsoft.com/office/powerpoint/2010/main" val="1507742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37362E-5033-D92A-F19F-A67E146933E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531FD-99C6-40CB-6209-337B4479DA48}"/>
              </a:ext>
            </a:extLst>
          </p:cNvPr>
          <p:cNvSpPr txBox="1"/>
          <p:nvPr/>
        </p:nvSpPr>
        <p:spPr>
          <a:xfrm>
            <a:off x="508000" y="381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Step 3: Open the Dashboard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4AD037-0FA0-7A1D-D69F-6712E048DE31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11C17-8E56-B6FF-3AB1-ADAFFB58BB3F}"/>
              </a:ext>
            </a:extLst>
          </p:cNvPr>
          <p:cNvSpPr txBox="1"/>
          <p:nvPr/>
        </p:nvSpPr>
        <p:spPr>
          <a:xfrm>
            <a:off x="762000" y="1270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No web server needed. Just open the HTML file: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846B5-2B69-7901-7C98-240F7E3B58BD}"/>
              </a:ext>
            </a:extLst>
          </p:cNvPr>
          <p:cNvSpPr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  <a:solidFill>
            <a:srgbClr val="1A25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707FE-BCB5-C8A8-BAD0-D4B466FD3988}"/>
              </a:ext>
            </a:extLst>
          </p:cNvPr>
          <p:cNvSpPr txBox="1"/>
          <p:nvPr/>
        </p:nvSpPr>
        <p:spPr>
          <a:xfrm>
            <a:off x="952500" y="1879600"/>
            <a:ext cx="1028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0B981"/>
                </a:solidFill>
                <a:latin typeface="Segoe UI" panose="020B0502040204020203" pitchFamily="34" charset="0"/>
              </a:rPr>
              <a:t>Double-click index.html (or index.protected.html)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3C834-A201-B941-955C-863EBEF8DDAD}"/>
              </a:ext>
            </a:extLst>
          </p:cNvPr>
          <p:cNvSpPr txBox="1"/>
          <p:nvPr/>
        </p:nvSpPr>
        <p:spPr>
          <a:xfrm>
            <a:off x="1016000" y="25400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The dashboard auto-detects data.json in the same folder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2D67F-F3FC-1297-5F64-5F00381CE060}"/>
              </a:ext>
            </a:extLst>
          </p:cNvPr>
          <p:cNvSpPr txBox="1"/>
          <p:nvPr/>
        </p:nvSpPr>
        <p:spPr>
          <a:xfrm>
            <a:off x="1016000" y="28956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You can also drag &amp; drop any data.json onto the page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EBBD39-73CB-723F-24E9-CEF291750C61}"/>
              </a:ext>
            </a:extLst>
          </p:cNvPr>
          <p:cNvSpPr txBox="1"/>
          <p:nvPr/>
        </p:nvSpPr>
        <p:spPr>
          <a:xfrm>
            <a:off x="1016000" y="32512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Use the Browse button for manual file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B1023E-721B-4DBE-30A6-F408ABF69919}"/>
              </a:ext>
            </a:extLst>
          </p:cNvPr>
          <p:cNvSpPr txBox="1"/>
          <p:nvPr/>
        </p:nvSpPr>
        <p:spPr>
          <a:xfrm>
            <a:off x="1016000" y="3708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F59E0B"/>
                </a:solidFill>
                <a:latin typeface="Segoe UI" panose="020B0502040204020203" pitchFamily="34" charset="0"/>
              </a:rPr>
              <a:t>  Tip: Place data.json next to index.html for auto-load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E7351-0533-6E0B-C815-B9D9946B6227}"/>
              </a:ext>
            </a:extLst>
          </p:cNvPr>
          <p:cNvSpPr txBox="1"/>
          <p:nvPr/>
        </p:nvSpPr>
        <p:spPr>
          <a:xfrm>
            <a:off x="1016000" y="40640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F59E0B"/>
                </a:solidFill>
                <a:latin typeface="Segoe UI" panose="020B0502040204020203" pitchFamily="34" charset="0"/>
              </a:rPr>
              <a:t>  Tip: Run Get-IntuneData.ps1 weekly via Task Scheduler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1D8ED-2C91-9E09-93BE-FB7E0A9FB956}"/>
              </a:ext>
            </a:extLst>
          </p:cNvPr>
          <p:cNvSpPr txBox="1"/>
          <p:nvPr/>
        </p:nvSpPr>
        <p:spPr>
          <a:xfrm>
            <a:off x="762000" y="4826000"/>
            <a:ext cx="10668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When data loads, the dashboard shows:
  - Overview tab with KPIs and charts
  - Compliance tab with device breakdown
  - Devices, Apps, Updates, and Reports tabs</a:t>
            </a:r>
          </a:p>
        </p:txBody>
      </p:sp>
    </p:spTree>
    <p:extLst>
      <p:ext uri="{BB962C8B-B14F-4D97-AF65-F5344CB8AC3E}">
        <p14:creationId xmlns:p14="http://schemas.microsoft.com/office/powerpoint/2010/main" val="2927090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BC820F-59FB-78E5-B000-21F279E2D49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35D11-7E8B-3A90-8AB0-2EBA2895D1B3}"/>
              </a:ext>
            </a:extLst>
          </p:cNvPr>
          <p:cNvSpPr txBox="1"/>
          <p:nvPr/>
        </p:nvSpPr>
        <p:spPr>
          <a:xfrm>
            <a:off x="508000" y="381000"/>
            <a:ext cx="5080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Step 4: Visibility Toolkit (Optional)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41E61-FCF9-2D8A-2922-68F952072AAF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0438D2-9121-B3B9-DE43-AE16C51F9AEC}"/>
              </a:ext>
            </a:extLst>
          </p:cNvPr>
          <p:cNvSpPr txBox="1"/>
          <p:nvPr/>
        </p:nvSpPr>
        <p:spPr>
          <a:xfrm>
            <a:off x="762000" y="1270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For deeper analysis, run the Visibility Toolkit: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05940E-375E-7EE9-EFC3-E1FF83D1F8DD}"/>
              </a:ext>
            </a:extLst>
          </p:cNvPr>
          <p:cNvSpPr/>
          <p:nvPr/>
        </p:nvSpPr>
        <p:spPr>
          <a:xfrm>
            <a:off x="762000" y="1714500"/>
            <a:ext cx="10668000" cy="508000"/>
          </a:xfrm>
          <a:prstGeom prst="rect">
            <a:avLst/>
          </a:prstGeom>
          <a:solidFill>
            <a:srgbClr val="1A25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9CCD8-E017-212F-B1F3-A5C559FD527E}"/>
              </a:ext>
            </a:extLst>
          </p:cNvPr>
          <p:cNvSpPr txBox="1"/>
          <p:nvPr/>
        </p:nvSpPr>
        <p:spPr>
          <a:xfrm>
            <a:off x="952500" y="1816100"/>
            <a:ext cx="1028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0B981"/>
                </a:solidFill>
                <a:latin typeface="Segoe UI" panose="020B0502040204020203" pitchFamily="34" charset="0"/>
              </a:rPr>
              <a:t>.\Invoke-IntuneVisibilityToolkit.ps1 -TenantId "x" -ClientId "y" -ClientSecret "z"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4B9AE-248A-16C4-04BB-6896DFFCC3E1}"/>
              </a:ext>
            </a:extLst>
          </p:cNvPr>
          <p:cNvSpPr txBox="1"/>
          <p:nvPr/>
        </p:nvSpPr>
        <p:spPr>
          <a:xfrm>
            <a:off x="762000" y="2540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This runs 5 advanced analysis modules: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96149-BF13-8DFB-30F8-758D6299A79E}"/>
              </a:ext>
            </a:extLst>
          </p:cNvPr>
          <p:cNvSpPr txBox="1"/>
          <p:nvPr/>
        </p:nvSpPr>
        <p:spPr>
          <a:xfrm>
            <a:off x="1016000" y="29845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Policy Conflict Analyzer - finds overlapping settings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2202F-7B4B-BA90-6EBD-0FB705E1C0ED}"/>
              </a:ext>
            </a:extLst>
          </p:cNvPr>
          <p:cNvSpPr txBox="1"/>
          <p:nvPr/>
        </p:nvSpPr>
        <p:spPr>
          <a:xfrm>
            <a:off x="1016000" y="33401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Security Audit - detects destructive actions, role changes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CC0A8-2C41-0A3C-BF96-924E36675CEB}"/>
              </a:ext>
            </a:extLst>
          </p:cNvPr>
          <p:cNvSpPr txBox="1"/>
          <p:nvPr/>
        </p:nvSpPr>
        <p:spPr>
          <a:xfrm>
            <a:off x="1016000" y="36957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Compliance Reality - flags stale / orphaned / false-green devices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A4ED6-5D49-4656-6E37-88F819A632BA}"/>
              </a:ext>
            </a:extLst>
          </p:cNvPr>
          <p:cNvSpPr txBox="1"/>
          <p:nvPr/>
        </p:nvSpPr>
        <p:spPr>
          <a:xfrm>
            <a:off x="1016000" y="40513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App Diagnostics - correlates failure patterns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F07D6-83A8-6600-42D0-77701BCC795A}"/>
              </a:ext>
            </a:extLst>
          </p:cNvPr>
          <p:cNvSpPr txBox="1"/>
          <p:nvPr/>
        </p:nvSpPr>
        <p:spPr>
          <a:xfrm>
            <a:off x="1016000" y="44069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Third-Party Patch Audit - identifies outdated software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8C15B2-4B82-6923-7625-2DE29099D296}"/>
              </a:ext>
            </a:extLst>
          </p:cNvPr>
          <p:cNvSpPr txBox="1"/>
          <p:nvPr/>
        </p:nvSpPr>
        <p:spPr>
          <a:xfrm>
            <a:off x="762000" y="4953000"/>
            <a:ext cx="1066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F59E0B"/>
                </a:solidFill>
                <a:latin typeface="Segoe UI" panose="020B0502040204020203" pitchFamily="34" charset="0"/>
              </a:rPr>
              <a:t>Output: visibility.json - drag it into the Visibility tab.</a:t>
            </a:r>
          </a:p>
        </p:txBody>
      </p:sp>
    </p:spTree>
    <p:extLst>
      <p:ext uri="{BB962C8B-B14F-4D97-AF65-F5344CB8AC3E}">
        <p14:creationId xmlns:p14="http://schemas.microsoft.com/office/powerpoint/2010/main" val="120795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FC2109-4E46-ADC3-A974-444CA6BC84A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5D52A-4EC0-B1D1-386F-604574FC7D5E}"/>
              </a:ext>
            </a:extLst>
          </p:cNvPr>
          <p:cNvSpPr txBox="1"/>
          <p:nvPr/>
        </p:nvSpPr>
        <p:spPr>
          <a:xfrm>
            <a:off x="508000" y="381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Dashboard Tour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0A5B45-D2E3-9935-308D-58E769A5156C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200A4-3DA8-9ACA-3655-1691E0EC92D2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Overview   - KPIs, OS breakdown, co-management, executive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A7D9AB-A1D5-A9A0-255D-94B8F56C7732}"/>
              </a:ext>
            </a:extLst>
          </p:cNvPr>
          <p:cNvSpPr txBox="1"/>
          <p:nvPr/>
        </p:nvSpPr>
        <p:spPr>
          <a:xfrm>
            <a:off x="762000" y="1651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Compliance - Compliance policy status, reasons, per-policy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C6616-AD64-81D8-443A-B4B364E21E22}"/>
              </a:ext>
            </a:extLst>
          </p:cNvPr>
          <p:cNvSpPr txBox="1"/>
          <p:nvPr/>
        </p:nvSpPr>
        <p:spPr>
          <a:xfrm>
            <a:off x="762000" y="2032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Devices    - Searchable device table with filters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DDE04-2585-322D-0BDD-73EAAB9CC57A}"/>
              </a:ext>
            </a:extLst>
          </p:cNvPr>
          <p:cNvSpPr txBox="1"/>
          <p:nvPr/>
        </p:nvSpPr>
        <p:spPr>
          <a:xfrm>
            <a:off x="762000" y="2413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Apps       - App inventory with search and filter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01FACE-83CD-2A1C-D56A-18DCA2E375A2}"/>
              </a:ext>
            </a:extLst>
          </p:cNvPr>
          <p:cNvSpPr txBox="1"/>
          <p:nvPr/>
        </p:nvSpPr>
        <p:spPr>
          <a:xfrm>
            <a:off x="762000" y="2794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Updates    - Update ring status summary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485F55-88EC-5F1A-4B58-32194FF3EC93}"/>
              </a:ext>
            </a:extLst>
          </p:cNvPr>
          <p:cNvSpPr txBox="1"/>
          <p:nvPr/>
        </p:nvSpPr>
        <p:spPr>
          <a:xfrm>
            <a:off x="762000" y="3175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Policies   - All compliance policies with details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1DF30-C1DB-328B-A41F-6FFAF9EC661B}"/>
              </a:ext>
            </a:extLst>
          </p:cNvPr>
          <p:cNvSpPr txBox="1"/>
          <p:nvPr/>
        </p:nvSpPr>
        <p:spPr>
          <a:xfrm>
            <a:off x="762000" y="3556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Security   - Risk levels, encryption, health scripts, anomalies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BACCA8-E4BD-1DFC-D4EF-18196EE0A245}"/>
              </a:ext>
            </a:extLst>
          </p:cNvPr>
          <p:cNvSpPr txBox="1"/>
          <p:nvPr/>
        </p:nvSpPr>
        <p:spPr>
          <a:xfrm>
            <a:off x="762000" y="3937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Reports    - Enrollment trends, OS versions, manufacturers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4CDA3-ECBF-1280-1DA2-1C0429B1EBB5}"/>
              </a:ext>
            </a:extLst>
          </p:cNvPr>
          <p:cNvSpPr txBox="1"/>
          <p:nvPr/>
        </p:nvSpPr>
        <p:spPr>
          <a:xfrm>
            <a:off x="762000" y="4318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Visibility - Health score, conflicts, recommendations (optional)</a:t>
            </a:r>
          </a:p>
        </p:txBody>
      </p:sp>
    </p:spTree>
    <p:extLst>
      <p:ext uri="{BB962C8B-B14F-4D97-AF65-F5344CB8AC3E}">
        <p14:creationId xmlns:p14="http://schemas.microsoft.com/office/powerpoint/2010/main" val="74001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973C2F-47AD-E6FB-004D-E7984714892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FF0F0-6669-0A5F-BD7A-34E8C61D6442}"/>
              </a:ext>
            </a:extLst>
          </p:cNvPr>
          <p:cNvSpPr txBox="1"/>
          <p:nvPr/>
        </p:nvSpPr>
        <p:spPr>
          <a:xfrm>
            <a:off x="508000" y="381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Scheduling and Sharing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21CDDB-1B06-279C-5A86-E21572A815FB}"/>
              </a:ext>
            </a:extLst>
          </p:cNvPr>
          <p:cNvSpPr/>
          <p:nvPr/>
        </p:nvSpPr>
        <p:spPr>
          <a:xfrm>
            <a:off x="508000" y="1079500"/>
            <a:ext cx="5334000" cy="2540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34C6E-67B1-DE12-4E43-1B7B6CC5FB69}"/>
              </a:ext>
            </a:extLst>
          </p:cNvPr>
          <p:cNvSpPr txBox="1"/>
          <p:nvPr/>
        </p:nvSpPr>
        <p:spPr>
          <a:xfrm>
            <a:off x="762000" y="12700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3B82F6"/>
                </a:solidFill>
                <a:latin typeface="Segoe UI" panose="020B0502040204020203" pitchFamily="34" charset="0"/>
              </a:rPr>
              <a:t>Task Scheduler Setup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34276-EF88-FF59-B3DF-AD4F9CD10079}"/>
              </a:ext>
            </a:extLst>
          </p:cNvPr>
          <p:cNvSpPr txBox="1"/>
          <p:nvPr/>
        </p:nvSpPr>
        <p:spPr>
          <a:xfrm>
            <a:off x="1016000" y="1714500"/>
            <a:ext cx="457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1. Open Task Scheduler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469B9-71D9-E358-7B52-6F33462F3D7E}"/>
              </a:ext>
            </a:extLst>
          </p:cNvPr>
          <p:cNvSpPr txBox="1"/>
          <p:nvPr/>
        </p:nvSpPr>
        <p:spPr>
          <a:xfrm>
            <a:off x="1016000" y="2019300"/>
            <a:ext cx="457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2. Create Basic Task, set daily trigger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3A2B0-1CF7-D347-0362-5B7EE2716A49}"/>
              </a:ext>
            </a:extLst>
          </p:cNvPr>
          <p:cNvSpPr txBox="1"/>
          <p:nvPr/>
        </p:nvSpPr>
        <p:spPr>
          <a:xfrm>
            <a:off x="1016000" y="2324100"/>
            <a:ext cx="457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3. Action: Start a program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7220DB-83F1-8FD8-9897-CAF8B218F1FF}"/>
              </a:ext>
            </a:extLst>
          </p:cNvPr>
          <p:cNvSpPr txBox="1"/>
          <p:nvPr/>
        </p:nvSpPr>
        <p:spPr>
          <a:xfrm>
            <a:off x="1016000" y="2628900"/>
            <a:ext cx="457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4. Program: powershell.exe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BAA8C-716D-74D5-3FA8-33C01B2D3B6F}"/>
              </a:ext>
            </a:extLst>
          </p:cNvPr>
          <p:cNvSpPr txBox="1"/>
          <p:nvPr/>
        </p:nvSpPr>
        <p:spPr>
          <a:xfrm>
            <a:off x="1016000" y="2933700"/>
            <a:ext cx="457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5. Add arguments with credentials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81D303-F02F-D5C1-9C2B-64DD4DB35FC1}"/>
              </a:ext>
            </a:extLst>
          </p:cNvPr>
          <p:cNvSpPr/>
          <p:nvPr/>
        </p:nvSpPr>
        <p:spPr>
          <a:xfrm>
            <a:off x="6350000" y="1079500"/>
            <a:ext cx="5334000" cy="2540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E77A7-290A-052E-1758-53FF353CD111}"/>
              </a:ext>
            </a:extLst>
          </p:cNvPr>
          <p:cNvSpPr txBox="1"/>
          <p:nvPr/>
        </p:nvSpPr>
        <p:spPr>
          <a:xfrm>
            <a:off x="6604000" y="12700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0B981"/>
                </a:solidFill>
                <a:latin typeface="Segoe UI" panose="020B0502040204020203" pitchFamily="34" charset="0"/>
              </a:rPr>
              <a:t>Sharing Options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40FD31-37F6-E22B-AE14-A36928550EA6}"/>
              </a:ext>
            </a:extLst>
          </p:cNvPr>
          <p:cNvSpPr txBox="1"/>
          <p:nvPr/>
        </p:nvSpPr>
        <p:spPr>
          <a:xfrm>
            <a:off x="6858000" y="17145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Place HTML + JSON on shared network drive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1E217-5EC0-F73D-D3A1-FAE5FB875858}"/>
              </a:ext>
            </a:extLst>
          </p:cNvPr>
          <p:cNvSpPr txBox="1"/>
          <p:nvPr/>
        </p:nvSpPr>
        <p:spPr>
          <a:xfrm>
            <a:off x="6858000" y="20701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Users open via file:// protocol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7C1C3-9883-7E80-A964-AF000A1ADF04}"/>
              </a:ext>
            </a:extLst>
          </p:cNvPr>
          <p:cNvSpPr txBox="1"/>
          <p:nvPr/>
        </p:nvSpPr>
        <p:spPr>
          <a:xfrm>
            <a:off x="6858000" y="24257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Or host on any static web server (IIS, nginx)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CE43BE-A5A8-F764-C886-2BF7C0979EF1}"/>
              </a:ext>
            </a:extLst>
          </p:cNvPr>
          <p:cNvSpPr txBox="1"/>
          <p:nvPr/>
        </p:nvSpPr>
        <p:spPr>
          <a:xfrm>
            <a:off x="6858000" y="27813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CORS not needed - all data is local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B6614-A15F-DCEF-AF68-7B8F4C4A067F}"/>
              </a:ext>
            </a:extLst>
          </p:cNvPr>
          <p:cNvSpPr txBox="1"/>
          <p:nvPr/>
        </p:nvSpPr>
        <p:spPr>
          <a:xfrm>
            <a:off x="508000" y="3937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EF4444"/>
                </a:solidFill>
                <a:latin typeface="Segoe UI" panose="020B0502040204020203" pitchFamily="34" charset="0"/>
              </a:rPr>
              <a:t>Note: data.json contains Graph API responses. Do not expose client secrets in shared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2085115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37E14A-5101-51F1-7B6F-06235E2085B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2D840-09EC-AC83-451F-6A43A5165745}"/>
              </a:ext>
            </a:extLst>
          </p:cNvPr>
          <p:cNvSpPr txBox="1"/>
          <p:nvPr/>
        </p:nvSpPr>
        <p:spPr>
          <a:xfrm>
            <a:off x="508000" y="381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Tips and Troubleshooting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F5C49-7F3B-2BB1-866B-C5ECD83D07E0}"/>
              </a:ext>
            </a:extLst>
          </p:cNvPr>
          <p:cNvSpPr/>
          <p:nvPr/>
        </p:nvSpPr>
        <p:spPr>
          <a:xfrm>
            <a:off x="508000" y="1079500"/>
            <a:ext cx="11176000" cy="4826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723B7-14D1-372E-7B84-D7BBFC38A249}"/>
              </a:ext>
            </a:extLst>
          </p:cNvPr>
          <p:cNvSpPr txBox="1"/>
          <p:nvPr/>
        </p:nvSpPr>
        <p:spPr>
          <a:xfrm>
            <a:off x="762000" y="1270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Issue: 'No data.json found' - Run Get-IntuneData.ps1 first or drag your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B10BA-5D94-C008-A24C-21F32CB4F7C2}"/>
              </a:ext>
            </a:extLst>
          </p:cNvPr>
          <p:cNvSpPr txBox="1"/>
          <p:nvPr/>
        </p:nvSpPr>
        <p:spPr>
          <a:xfrm>
            <a:off x="762000" y="16256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Issue: 'Invalid JSON' when loading - Check file is valid JSON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76E82-B1D2-E6E5-A854-2A8C599131A4}"/>
              </a:ext>
            </a:extLst>
          </p:cNvPr>
          <p:cNvSpPr txBox="1"/>
          <p:nvPr/>
        </p:nvSpPr>
        <p:spPr>
          <a:xfrm>
            <a:off x="762000" y="19812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Issue: 'Invalid data format' - File must be an object with arrays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675D7-56B6-DCE8-D4F9-E495BAC44CD4}"/>
              </a:ext>
            </a:extLst>
          </p:cNvPr>
          <p:cNvSpPr txBox="1"/>
          <p:nvPr/>
        </p:nvSpPr>
        <p:spPr>
          <a:xfrm>
            <a:off x="762000" y="2336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Issue: Charts not rendering - Browser console (F12) for errors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DFEEE9-DF1E-6EBB-6ACD-40955B39880E}"/>
              </a:ext>
            </a:extLst>
          </p:cNvPr>
          <p:cNvSpPr txBox="1"/>
          <p:nvPr/>
        </p:nvSpPr>
        <p:spPr>
          <a:xfrm>
            <a:off x="762000" y="26924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  Issue: 'Invalid JSON' for visibility - Run Invoke-IntuneVisibilityToolkit.ps1 first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45844-1CC7-DB30-9EFC-5C6580DACA68}"/>
              </a:ext>
            </a:extLst>
          </p:cNvPr>
          <p:cNvSpPr txBox="1"/>
          <p:nvPr/>
        </p:nvSpPr>
        <p:spPr>
          <a:xfrm>
            <a:off x="762000" y="31496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F59E0B"/>
                </a:solidFill>
                <a:latin typeface="Segoe UI" panose="020B0502040204020203" pitchFamily="34" charset="0"/>
              </a:rPr>
              <a:t>  Tip: File reading requires file:// or http:// protocol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02E016-E205-70DF-CB88-277A14AB52DF}"/>
              </a:ext>
            </a:extLst>
          </p:cNvPr>
          <p:cNvSpPr txBox="1"/>
          <p:nvPr/>
        </p:nvSpPr>
        <p:spPr>
          <a:xfrm>
            <a:off x="762000" y="35052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F59E0B"/>
                </a:solidFill>
                <a:latin typeface="Segoe UI" panose="020B0502040204020203" pitchFamily="34" charset="0"/>
              </a:rPr>
              <a:t>  Tip: Chrome may block local file fetches - use drag and drop instead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9D6D3F-CCBB-41D5-52D7-3B360C9F1F92}"/>
              </a:ext>
            </a:extLst>
          </p:cNvPr>
          <p:cNvSpPr txBox="1"/>
          <p:nvPr/>
        </p:nvSpPr>
        <p:spPr>
          <a:xfrm>
            <a:off x="762000" y="38608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F59E0B"/>
                </a:solidFill>
                <a:latin typeface="Segoe UI" panose="020B0502040204020203" pitchFamily="34" charset="0"/>
              </a:rPr>
              <a:t>  Tip: For best results, use the latest version of Chrome or 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ADBC24-F2AE-0A36-95ED-406394F6C3D6}"/>
              </a:ext>
            </a:extLst>
          </p:cNvPr>
          <p:cNvSpPr txBox="1"/>
          <p:nvPr/>
        </p:nvSpPr>
        <p:spPr>
          <a:xfrm>
            <a:off x="762000" y="42164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F59E0B"/>
                </a:solidFill>
                <a:latin typeface="Segoe UI" panose="020B0502040204020203" pitchFamily="34" charset="0"/>
              </a:rPr>
              <a:t>  Tip: data.json and index.html must be in same folder for auto-load</a:t>
            </a:r>
          </a:p>
        </p:txBody>
      </p:sp>
    </p:spTree>
    <p:extLst>
      <p:ext uri="{BB962C8B-B14F-4D97-AF65-F5344CB8AC3E}">
        <p14:creationId xmlns:p14="http://schemas.microsoft.com/office/powerpoint/2010/main" val="3286935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3D9957-4585-D44A-C8E8-2B8F1400424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DE959-20C1-99D0-84C8-AFA2300B3EB2}"/>
              </a:ext>
            </a:extLst>
          </p:cNvPr>
          <p:cNvSpPr txBox="1"/>
          <p:nvPr/>
        </p:nvSpPr>
        <p:spPr>
          <a:xfrm>
            <a:off x="508000" y="381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2D3EE"/>
                </a:solidFill>
                <a:latin typeface="Segoe UI" panose="020B0502040204020203" pitchFamily="34" charset="0"/>
              </a:rPr>
              <a:t>Protected Build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A0B94D-1379-7D96-A711-F42064A4349F}"/>
              </a:ext>
            </a:extLst>
          </p:cNvPr>
          <p:cNvSpPr/>
          <p:nvPr/>
        </p:nvSpPr>
        <p:spPr>
          <a:xfrm>
            <a:off x="508000" y="1079500"/>
            <a:ext cx="11176000" cy="1270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6D8F5-EAD9-5CF8-C61E-62068FCE3788}"/>
              </a:ext>
            </a:extLst>
          </p:cNvPr>
          <p:cNvSpPr txBox="1"/>
          <p:nvPr/>
        </p:nvSpPr>
        <p:spPr>
          <a:xfrm>
            <a:off x="762000" y="1270000"/>
            <a:ext cx="1066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The file index.protected.html has obfuscated JavaScript. To regenerate after editing index.html, run: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1E79DC-C9C9-8661-D7AE-2F00A084246E}"/>
              </a:ext>
            </a:extLst>
          </p:cNvPr>
          <p:cNvSpPr/>
          <p:nvPr/>
        </p:nvSpPr>
        <p:spPr>
          <a:xfrm>
            <a:off x="762000" y="2540000"/>
            <a:ext cx="10668000" cy="508000"/>
          </a:xfrm>
          <a:prstGeom prst="rect">
            <a:avLst/>
          </a:prstGeom>
          <a:solidFill>
            <a:srgbClr val="1A25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AFEFC-8D62-12AA-044D-28D907261C2E}"/>
              </a:ext>
            </a:extLst>
          </p:cNvPr>
          <p:cNvSpPr txBox="1"/>
          <p:nvPr/>
        </p:nvSpPr>
        <p:spPr>
          <a:xfrm>
            <a:off x="952500" y="2641600"/>
            <a:ext cx="1028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0B981"/>
                </a:solidFill>
                <a:latin typeface="Segoe UI" panose="020B0502040204020203" pitchFamily="34" charset="0"/>
              </a:rPr>
              <a:t>.\Build-Protected.ps1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CD387-B96F-78F1-D6C1-82DDC9AF5480}"/>
              </a:ext>
            </a:extLst>
          </p:cNvPr>
          <p:cNvSpPr txBox="1"/>
          <p:nvPr/>
        </p:nvSpPr>
        <p:spPr>
          <a:xfrm>
            <a:off x="762000" y="3429000"/>
            <a:ext cx="1066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The build script uses javascript-obfuscator to mangle names, encode strings, self-defend, and strip comments.</a:t>
            </a:r>
          </a:p>
        </p:txBody>
      </p:sp>
    </p:spTree>
    <p:extLst>
      <p:ext uri="{BB962C8B-B14F-4D97-AF65-F5344CB8AC3E}">
        <p14:creationId xmlns:p14="http://schemas.microsoft.com/office/powerpoint/2010/main" val="3964604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C95623-8F20-B595-4C42-3986042F84F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A2BB0D-3353-C4D7-6F2E-E3C57291A05F}"/>
              </a:ext>
            </a:extLst>
          </p:cNvPr>
          <p:cNvSpPr/>
          <p:nvPr/>
        </p:nvSpPr>
        <p:spPr>
          <a:xfrm>
            <a:off x="762000" y="1778000"/>
            <a:ext cx="10668000" cy="2794000"/>
          </a:xfrm>
          <a:prstGeom prst="rect">
            <a:avLst/>
          </a:prstGeom>
          <a:solidFill>
            <a:srgbClr val="14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F4805-49BB-C707-C95E-501C0E35562C}"/>
              </a:ext>
            </a:extLst>
          </p:cNvPr>
          <p:cNvSpPr txBox="1"/>
          <p:nvPr/>
        </p:nvSpPr>
        <p:spPr>
          <a:xfrm>
            <a:off x="0" y="2159000"/>
            <a:ext cx="1219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solidFill>
                  <a:srgbClr val="22D3EE"/>
                </a:solidFill>
                <a:latin typeface="Segoe UI" panose="020B0502040204020203" pitchFamily="34" charset="0"/>
              </a:rPr>
              <a:t>	</a:t>
            </a:r>
            <a:r>
              <a:rPr lang="en-US" sz="3600" b="1" dirty="0" err="1">
                <a:solidFill>
                  <a:srgbClr val="22D3EE"/>
                </a:solidFill>
                <a:latin typeface="Segoe UI" panose="020B0502040204020203" pitchFamily="34" charset="0"/>
              </a:rPr>
              <a:t>ComplianceHub</a:t>
            </a:r>
            <a:endParaRPr lang="en-US" sz="3600" b="1" dirty="0">
              <a:solidFill>
                <a:srgbClr val="22D3EE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AAB44-1032-FB09-929D-4E1EE5A8E2B3}"/>
              </a:ext>
            </a:extLst>
          </p:cNvPr>
          <p:cNvSpPr txBox="1"/>
          <p:nvPr/>
        </p:nvSpPr>
        <p:spPr>
          <a:xfrm>
            <a:off x="0" y="2794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94A3B8"/>
                </a:solidFill>
                <a:latin typeface="Segoe UI" panose="020B0502040204020203" pitchFamily="34" charset="0"/>
              </a:rPr>
              <a:t>	Intune Compliance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EC56B-A97F-1AAF-DAA6-91A015A5F3F4}"/>
              </a:ext>
            </a:extLst>
          </p:cNvPr>
          <p:cNvSpPr txBox="1"/>
          <p:nvPr/>
        </p:nvSpPr>
        <p:spPr>
          <a:xfrm>
            <a:off x="0" y="355600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 dirty="0">
                <a:solidFill>
                  <a:srgbClr val="3B82F6"/>
                </a:solidFill>
                <a:latin typeface="Segoe UI" panose="020B0502040204020203" pitchFamily="34" charset="0"/>
              </a:rPr>
              <a:t>	Made by K </a:t>
            </a:r>
            <a:r>
              <a:rPr lang="en-US" sz="2000" b="1" dirty="0" err="1">
                <a:solidFill>
                  <a:srgbClr val="3B82F6"/>
                </a:solidFill>
                <a:latin typeface="Segoe UI" panose="020B0502040204020203" pitchFamily="34" charset="0"/>
              </a:rPr>
              <a:t>K</a:t>
            </a:r>
            <a:r>
              <a:rPr lang="en-US" sz="2000" b="1" dirty="0">
                <a:solidFill>
                  <a:srgbClr val="3B82F6"/>
                </a:solidFill>
                <a:latin typeface="Segoe UI" panose="020B0502040204020203" pitchFamily="34" charset="0"/>
              </a:rPr>
              <a:t> Shal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0A827-7DF2-88CB-A4A7-ACD17F79EEE5}"/>
              </a:ext>
            </a:extLst>
          </p:cNvPr>
          <p:cNvSpPr txBox="1"/>
          <p:nvPr/>
        </p:nvSpPr>
        <p:spPr>
          <a:xfrm>
            <a:off x="0" y="400050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</a:rPr>
              <a:t>	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7127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1362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KajalKumar Shal</dc:creator>
  <cp:lastModifiedBy>KajalKumar Shal</cp:lastModifiedBy>
  <cp:revision>2</cp:revision>
  <dcterms:created xsi:type="dcterms:W3CDTF">2026-05-29T09:07:46Z</dcterms:created>
  <dcterms:modified xsi:type="dcterms:W3CDTF">2026-05-29T09:14:19Z</dcterms:modified>
</cp:coreProperties>
</file>